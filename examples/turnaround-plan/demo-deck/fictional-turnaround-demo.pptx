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Fictional Components moved from growth mode to recovery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1270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Planned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24000"/>
            <a:ext cx="2159000" cy="330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4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05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original expansion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" y="2133600"/>
            <a:ext cx="21082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48000" y="1270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Price reset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0" y="1524000"/>
            <a:ext cx="2159000" cy="330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B8242F"/>
                </a:solidFill>
                <a:latin typeface="Microsoft YaHei"/>
              </a:rPr>
              <a:t>-56%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0" y="1905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vs plan assumption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48000" y="2133600"/>
            <a:ext cx="21082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24500" y="1270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Operating cash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0" y="1524000"/>
            <a:ext cx="2159000" cy="330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1C845F"/>
                </a:solidFill>
                <a:latin typeface="Microsoft YaHei"/>
              </a:rPr>
              <a:t>+3.3m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0" y="1905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recovered before profit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24500" y="2133600"/>
            <a:ext cx="21082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55000" y="1270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Decision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000" y="1524000"/>
            <a:ext cx="2159000" cy="330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E58B23"/>
                </a:solidFill>
                <a:latin typeface="Microsoft YaHei"/>
              </a:rPr>
              <a:t>Stop 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0" y="1905000"/>
            <a:ext cx="2159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avoid new risk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55000" y="2133600"/>
            <a:ext cx="21082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98500" y="2984500"/>
            <a:ext cx="2984500" cy="18415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8500" y="2984500"/>
            <a:ext cx="63500" cy="1841500"/>
          </a:xfrm>
          <a:prstGeom prst="rect">
            <a:avLst/>
          </a:prstGeom>
          <a:solidFill>
            <a:srgbClr val="005CB9"/>
          </a:solidFill>
          <a:ln w="8890">
            <a:solidFill>
              <a:srgbClr val="005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700" y="3200400"/>
            <a:ext cx="2413000" cy="254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005CB9"/>
                </a:solidFill>
                <a:latin typeface="Microsoft YaHei"/>
              </a:rPr>
              <a:t>Original logic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7100" y="37211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100" y="36322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High demand cycle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7100" y="40513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100" y="39624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Capacity expansion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7100" y="43815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4100" y="42926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Scale economics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8500" y="2984500"/>
            <a:ext cx="2984500" cy="18415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08500" y="2984500"/>
            <a:ext cx="63500" cy="1841500"/>
          </a:xfrm>
          <a:prstGeom prst="rect">
            <a:avLst/>
          </a:prstGeom>
          <a:solidFill>
            <a:srgbClr val="B8242F"/>
          </a:solidFill>
          <a:ln w="889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11700" y="3200400"/>
            <a:ext cx="2413000" cy="254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B8242F"/>
                </a:solidFill>
                <a:latin typeface="Microsoft YaHei"/>
              </a:rPr>
              <a:t>Actual deviation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37100" y="37211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4100" y="36322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Market price reset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37100" y="40513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64100" y="39624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Low utilization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37100" y="43815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100" y="42926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Cost pressure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8500" y="2984500"/>
            <a:ext cx="2984500" cy="18415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18500" y="2984500"/>
            <a:ext cx="63500" cy="1841500"/>
          </a:xfrm>
          <a:prstGeom prst="rect">
            <a:avLst/>
          </a:prstGeom>
          <a:solidFill>
            <a:srgbClr val="1C845F"/>
          </a:solidFill>
          <a:ln w="8890">
            <a:solidFill>
              <a:srgbClr val="1C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21700" y="3200400"/>
            <a:ext cx="2413000" cy="254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1C845F"/>
                </a:solidFill>
                <a:latin typeface="Microsoft YaHei"/>
              </a:rPr>
              <a:t>Recovery action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47100" y="37211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74100" y="36322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Cash discipline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7100" y="40513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74100" y="39624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Contribution orders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47100" y="43815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74100" y="42926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Asset-light phase two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Leadership should stop phase two and fix phase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8500" y="1333500"/>
            <a:ext cx="17145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1397000"/>
            <a:ext cx="16383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3000" y="1333500"/>
            <a:ext cx="4191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1100" y="1397000"/>
            <a:ext cx="4114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Why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4000" y="1333500"/>
            <a:ext cx="3429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2100" y="1397000"/>
            <a:ext cx="3352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33000" y="1333500"/>
            <a:ext cx="17145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71100" y="1397000"/>
            <a:ext cx="16383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8500" y="1676400"/>
            <a:ext cx="17145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600" y="17399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Stop phase two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1676400"/>
            <a:ext cx="41910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1100" y="1739900"/>
            <a:ext cx="4114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C845F"/>
                </a:solidFill>
                <a:latin typeface="Microsoft YaHei"/>
              </a:rPr>
              <a:t>capacity oversupply + phase one not stable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4000" y="1676400"/>
            <a:ext cx="34290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2100" y="1739900"/>
            <a:ext cx="3352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new loss and idle assets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33000" y="1676400"/>
            <a:ext cx="17145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1100" y="17399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C845F"/>
                </a:solidFill>
                <a:latin typeface="Microsoft YaHei"/>
              </a:rPr>
              <a:t>Approve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8500" y="2336800"/>
            <a:ext cx="17145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600" y="24003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Fix phase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3000" y="2336800"/>
            <a:ext cx="41910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1100" y="2400300"/>
            <a:ext cx="4114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cash recovery exists but profit remains negative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4000" y="2336800"/>
            <a:ext cx="34290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2100" y="2400300"/>
            <a:ext cx="3352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weak discipline can reverse recovery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33000" y="2336800"/>
            <a:ext cx="17145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1100" y="24003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C845F"/>
                </a:solidFill>
                <a:latin typeface="Microsoft YaHei"/>
              </a:rPr>
              <a:t>Approve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500" y="2997200"/>
            <a:ext cx="17145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600" y="30607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Monetize assets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13000" y="2997200"/>
            <a:ext cx="41910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51100" y="3060700"/>
            <a:ext cx="4114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idle land and equipment drag returns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4000" y="2997200"/>
            <a:ext cx="34290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2100" y="3060700"/>
            <a:ext cx="3352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timing uncertainty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33000" y="2997200"/>
            <a:ext cx="1714500" cy="6604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1100" y="30607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C845F"/>
                </a:solidFill>
                <a:latin typeface="Microsoft YaHei"/>
              </a:rPr>
              <a:t>Launch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8500" y="3657600"/>
            <a:ext cx="17145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600" y="37211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Controlled credit pilot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13000" y="3657600"/>
            <a:ext cx="41910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51100" y="3721100"/>
            <a:ext cx="4114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cash sales limit volume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04000" y="3657600"/>
            <a:ext cx="34290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2100" y="3721100"/>
            <a:ext cx="33528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B8242F"/>
                </a:solidFill>
                <a:latin typeface="Microsoft YaHei"/>
              </a:rPr>
              <a:t>AR and project risk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33000" y="3657600"/>
            <a:ext cx="17145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1100" y="3721100"/>
            <a:ext cx="1638300" cy="5588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Pilot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Losses come from four connected mismatches rather than one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60500" y="1524000"/>
            <a:ext cx="3111500" cy="1333500"/>
          </a:xfrm>
          <a:prstGeom prst="rect">
            <a:avLst/>
          </a:prstGeom>
          <a:solidFill>
            <a:srgbClr val="F6F8FA"/>
          </a:solidFill>
          <a:ln w="1524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3700" y="1714500"/>
            <a:ext cx="2667000" cy="254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B8242F"/>
                </a:solidFill>
                <a:latin typeface="Microsoft YaHei"/>
              </a:rPr>
              <a:t>Market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3700" y="2070100"/>
            <a:ext cx="2667000" cy="508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price reset and demand softness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0" y="1524000"/>
            <a:ext cx="3111500" cy="1333500"/>
          </a:xfrm>
          <a:prstGeom prst="rect">
            <a:avLst/>
          </a:prstGeom>
          <a:solidFill>
            <a:srgbClr val="F6F8FA"/>
          </a:solidFill>
          <a:ln w="15240">
            <a:solidFill>
              <a:srgbClr val="E5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6700" y="1714500"/>
            <a:ext cx="2667000" cy="254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E58B23"/>
                </a:solidFill>
                <a:latin typeface="Microsoft YaHei"/>
              </a:rPr>
              <a:t>Investment 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6700" y="2070100"/>
            <a:ext cx="2667000" cy="508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expansion before stable utilization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0500" y="3937000"/>
            <a:ext cx="3111500" cy="1333500"/>
          </a:xfrm>
          <a:prstGeom prst="rect">
            <a:avLst/>
          </a:prstGeom>
          <a:solidFill>
            <a:srgbClr val="F6F8FA"/>
          </a:solidFill>
          <a:ln w="1524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63700" y="4127500"/>
            <a:ext cx="2667000" cy="254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B8242F"/>
                </a:solidFill>
                <a:latin typeface="Microsoft YaHei"/>
              </a:rPr>
              <a:t>Cost mismatch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3700" y="4483100"/>
            <a:ext cx="2667000" cy="508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energy, labor, logistics, fixed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937000"/>
            <a:ext cx="3111500" cy="1333500"/>
          </a:xfrm>
          <a:prstGeom prst="rect">
            <a:avLst/>
          </a:prstGeom>
          <a:solidFill>
            <a:srgbClr val="F6F8FA"/>
          </a:solidFill>
          <a:ln w="15240">
            <a:solidFill>
              <a:srgbClr val="E5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6700" y="4127500"/>
            <a:ext cx="2667000" cy="254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E58B23"/>
                </a:solidFill>
                <a:latin typeface="Microsoft YaHei"/>
              </a:rPr>
              <a:t>Sales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6700" y="4483100"/>
            <a:ext cx="2667000" cy="508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cash safety limits project volume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0000" y="2006600"/>
            <a:ext cx="1905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336800"/>
            <a:ext cx="1397000" cy="355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600" b="1">
                <a:solidFill>
                  <a:srgbClr val="05254D"/>
                </a:solidFill>
                <a:latin typeface="Microsoft YaHei"/>
              </a:rPr>
              <a:t>Core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9400" y="2946400"/>
            <a:ext cx="1371600" cy="889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300" b="1">
                <a:solidFill>
                  <a:srgbClr val="B8242F"/>
                </a:solidFill>
                <a:latin typeface="Microsoft YaHei"/>
              </a:rPr>
              <a:t>Do not manage this as a single-cost issue.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Price reset invalidated the original revenue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9000" y="1333500"/>
            <a:ext cx="7112000" cy="34925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1485900"/>
            <a:ext cx="67564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05254D"/>
                </a:solidFill>
                <a:latin typeface="Microsoft YaHei"/>
              </a:rPr>
              <a:t>Realized price trend (currency/unit)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49400" y="4241800"/>
            <a:ext cx="5943600" cy="0"/>
          </a:xfrm>
          <a:prstGeom prst="line">
            <a:avLst/>
          </a:prstGeom>
          <a:ln w="1270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498600" y="2114289"/>
            <a:ext cx="101600" cy="101600"/>
          </a:xfrm>
          <a:prstGeom prst="ellipse">
            <a:avLst/>
          </a:prstGeom>
          <a:solidFill>
            <a:srgbClr val="B8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1900" y="1885689"/>
            <a:ext cx="635000" cy="1778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580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3800" y="4356100"/>
            <a:ext cx="711200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Plan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49400" y="2165089"/>
            <a:ext cx="1485900" cy="1101559"/>
          </a:xfrm>
          <a:prstGeom prst="line">
            <a:avLst/>
          </a:prstGeom>
          <a:ln w="26670">
            <a:solidFill>
              <a:srgbClr val="B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984500" y="3215848"/>
            <a:ext cx="101600" cy="101600"/>
          </a:xfrm>
          <a:prstGeom prst="ellipse">
            <a:avLst/>
          </a:prstGeom>
          <a:solidFill>
            <a:srgbClr val="B8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7800" y="2987248"/>
            <a:ext cx="635000" cy="1778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397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700" y="4356100"/>
            <a:ext cx="711200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Y1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35300" y="3266648"/>
            <a:ext cx="1485900" cy="571848"/>
          </a:xfrm>
          <a:prstGeom prst="line">
            <a:avLst/>
          </a:prstGeom>
          <a:ln w="26670">
            <a:solidFill>
              <a:srgbClr val="B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470400" y="3787696"/>
            <a:ext cx="101600" cy="101600"/>
          </a:xfrm>
          <a:prstGeom prst="ellipse">
            <a:avLst/>
          </a:prstGeom>
          <a:solidFill>
            <a:srgbClr val="B8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3700" y="3559096"/>
            <a:ext cx="635000" cy="1778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302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5600" y="4356100"/>
            <a:ext cx="711200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Y2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21200" y="3838496"/>
            <a:ext cx="1485900" cy="240778"/>
          </a:xfrm>
          <a:prstGeom prst="line">
            <a:avLst/>
          </a:prstGeom>
          <a:ln w="26670">
            <a:solidFill>
              <a:srgbClr val="B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956300" y="4028474"/>
            <a:ext cx="101600" cy="101600"/>
          </a:xfrm>
          <a:prstGeom prst="ellipse">
            <a:avLst/>
          </a:prstGeom>
          <a:solidFill>
            <a:srgbClr val="B8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89600" y="3799874"/>
            <a:ext cx="635000" cy="1778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262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1500" y="4356100"/>
            <a:ext cx="711200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Y3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07100" y="4079274"/>
            <a:ext cx="1485900" cy="42136"/>
          </a:xfrm>
          <a:prstGeom prst="line">
            <a:avLst/>
          </a:prstGeom>
          <a:ln w="26670">
            <a:solidFill>
              <a:srgbClr val="B824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442200" y="4070610"/>
            <a:ext cx="101600" cy="101600"/>
          </a:xfrm>
          <a:prstGeom prst="ellipse">
            <a:avLst/>
          </a:prstGeom>
          <a:solidFill>
            <a:srgbClr val="B8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5500" y="3842010"/>
            <a:ext cx="635000" cy="1778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255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7400" y="4356100"/>
            <a:ext cx="711200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0" y="1651000"/>
            <a:ext cx="2032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Plan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3000" y="1905000"/>
            <a:ext cx="2032000" cy="330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580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0" y="2286000"/>
            <a:ext cx="2032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planning assumption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63000" y="2514600"/>
            <a:ext cx="19812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63000" y="2857500"/>
            <a:ext cx="2032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Current 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0" y="3111500"/>
            <a:ext cx="2032000" cy="330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B8242F"/>
                </a:solidFill>
                <a:latin typeface="Microsoft YaHei"/>
              </a:rPr>
              <a:t>255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0" y="3492500"/>
            <a:ext cx="20320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low-price market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763000" y="3721100"/>
            <a:ext cx="19812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636000" y="4191000"/>
            <a:ext cx="2413000" cy="635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300" b="1">
                <a:solidFill>
                  <a:srgbClr val="B8242F"/>
                </a:solidFill>
                <a:latin typeface="Microsoft YaHei"/>
              </a:rPr>
              <a:t>Expansion economics must be rebuilt under low-price and low-utilization assumptions.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Cash flow has recovered before earnings, so recovery is real but incomplete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3600" y="1397000"/>
            <a:ext cx="7112000" cy="34290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1549400"/>
            <a:ext cx="67564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05254D"/>
                </a:solidFill>
                <a:latin typeface="Microsoft YaHei"/>
              </a:rPr>
              <a:t>Net profit vs operating cash flow (synthetic)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9824" y="4292600"/>
            <a:ext cx="526118" cy="1406769"/>
          </a:xfrm>
          <a:prstGeom prst="rect">
            <a:avLst/>
          </a:prstGeom>
          <a:solidFill>
            <a:srgbClr val="B8242F"/>
          </a:solidFill>
          <a:ln w="889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5824" y="5750169"/>
            <a:ext cx="1034118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-80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4648200"/>
            <a:ext cx="1135718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23 NP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590" y="4292600"/>
            <a:ext cx="526118" cy="791307"/>
          </a:xfrm>
          <a:prstGeom prst="rect">
            <a:avLst/>
          </a:prstGeom>
          <a:solidFill>
            <a:srgbClr val="B8242F"/>
          </a:solidFill>
          <a:ln w="889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97590" y="5134707"/>
            <a:ext cx="1034118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-45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6790" y="4648200"/>
            <a:ext cx="1135718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23 CF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3357" y="4292600"/>
            <a:ext cx="526118" cy="2110153"/>
          </a:xfrm>
          <a:prstGeom prst="rect">
            <a:avLst/>
          </a:prstGeom>
          <a:solidFill>
            <a:srgbClr val="B8242F"/>
          </a:solidFill>
          <a:ln w="889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9357" y="6453553"/>
            <a:ext cx="1034118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-120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8557" y="4648200"/>
            <a:ext cx="1135718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24 NP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5124" y="3677138"/>
            <a:ext cx="526118" cy="615461"/>
          </a:xfrm>
          <a:prstGeom prst="rect">
            <a:avLst/>
          </a:prstGeom>
          <a:solidFill>
            <a:srgbClr val="1C845F"/>
          </a:solidFill>
          <a:ln w="8890">
            <a:solidFill>
              <a:srgbClr val="1C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1124" y="3423138"/>
            <a:ext cx="1034118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1C845F"/>
                </a:solidFill>
                <a:latin typeface="Microsoft YaHei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324" y="4648200"/>
            <a:ext cx="1135718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25 CF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6890" y="4292600"/>
            <a:ext cx="526118" cy="562707"/>
          </a:xfrm>
          <a:prstGeom prst="rect">
            <a:avLst/>
          </a:prstGeom>
          <a:solidFill>
            <a:srgbClr val="B8242F"/>
          </a:solidFill>
          <a:ln w="889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2890" y="4906107"/>
            <a:ext cx="1034118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-32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2090" y="4648200"/>
            <a:ext cx="1135718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Now NP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98657" y="3325446"/>
            <a:ext cx="526118" cy="967153"/>
          </a:xfrm>
          <a:prstGeom prst="rect">
            <a:avLst/>
          </a:prstGeom>
          <a:solidFill>
            <a:srgbClr val="1C845F"/>
          </a:solidFill>
          <a:ln w="8890">
            <a:solidFill>
              <a:srgbClr val="1C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4657" y="3071446"/>
            <a:ext cx="1034118" cy="1905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1C845F"/>
                </a:solidFill>
                <a:latin typeface="Microsoft YaHei"/>
              </a:rPr>
              <a:t>55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857" y="4648200"/>
            <a:ext cx="1135718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0">
                <a:solidFill>
                  <a:srgbClr val="677482"/>
                </a:solidFill>
                <a:latin typeface="Microsoft YaHei"/>
              </a:rPr>
              <a:t>Now CF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308100" y="4292600"/>
            <a:ext cx="6311900" cy="0"/>
          </a:xfrm>
          <a:prstGeom prst="line">
            <a:avLst/>
          </a:prstGeom>
          <a:ln w="1270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382000" y="1676400"/>
            <a:ext cx="1016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0100" y="1739900"/>
            <a:ext cx="939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98000" y="1676400"/>
            <a:ext cx="1016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100" y="1739900"/>
            <a:ext cx="939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14000" y="1676400"/>
            <a:ext cx="1397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52100" y="1739900"/>
            <a:ext cx="1320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Meaning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2000" y="2019300"/>
            <a:ext cx="1016000" cy="558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0100" y="2082800"/>
            <a:ext cx="939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Cash flow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98000" y="2019300"/>
            <a:ext cx="1016000" cy="558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6100" y="2082800"/>
            <a:ext cx="939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C845F"/>
                </a:solidFill>
                <a:latin typeface="Microsoft YaHei"/>
              </a:rPr>
              <a:t>+5.5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14000" y="2019300"/>
            <a:ext cx="1397000" cy="558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2100" y="2082800"/>
            <a:ext cx="1320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recovery base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82000" y="2578100"/>
            <a:ext cx="10160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0100" y="2641600"/>
            <a:ext cx="939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Unit margin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98000" y="2578100"/>
            <a:ext cx="10160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36100" y="2641600"/>
            <a:ext cx="939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B8242F"/>
                </a:solidFill>
                <a:latin typeface="Microsoft YaHei"/>
              </a:rPr>
              <a:t>-0.9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14000" y="2578100"/>
            <a:ext cx="1397000" cy="5588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52100" y="2641600"/>
            <a:ext cx="1320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near zero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82000" y="3136900"/>
            <a:ext cx="1016000" cy="558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20100" y="3200400"/>
            <a:ext cx="939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Net profit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98000" y="3136900"/>
            <a:ext cx="1016000" cy="558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36100" y="3200400"/>
            <a:ext cx="939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B8242F"/>
                </a:solidFill>
                <a:latin typeface="Microsoft YaHei"/>
              </a:rPr>
              <a:t>-3.2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14000" y="3136900"/>
            <a:ext cx="1397000" cy="558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52100" y="3200400"/>
            <a:ext cx="1320800" cy="457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not fixed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Cost disadvantage is multi-point and must be managed below market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70000" y="1460500"/>
            <a:ext cx="8255000" cy="533400"/>
          </a:xfrm>
          <a:prstGeom prst="rect">
            <a:avLst/>
          </a:prstGeom>
          <a:solidFill>
            <a:srgbClr val="F6F8FA"/>
          </a:solidFill>
          <a:ln w="1397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3200" y="1600200"/>
            <a:ext cx="2667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05254D"/>
                </a:solidFill>
                <a:latin typeface="Microsoft YaHei"/>
              </a:rPr>
              <a:t>Market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0" y="1600200"/>
            <a:ext cx="330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255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0000" y="2324100"/>
            <a:ext cx="7556500" cy="533400"/>
          </a:xfrm>
          <a:prstGeom prst="rect">
            <a:avLst/>
          </a:prstGeom>
          <a:solidFill>
            <a:srgbClr val="F6F8FA"/>
          </a:solidFill>
          <a:ln w="1397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73200" y="2463800"/>
            <a:ext cx="2667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B8242F"/>
                </a:solidFill>
                <a:latin typeface="Microsoft YaHei"/>
              </a:rPr>
              <a:t>Delivered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0" y="2463800"/>
            <a:ext cx="330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above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70000" y="3187700"/>
            <a:ext cx="6731000" cy="533400"/>
          </a:xfrm>
          <a:prstGeom prst="rect">
            <a:avLst/>
          </a:prstGeom>
          <a:solidFill>
            <a:srgbClr val="F6F8FA"/>
          </a:solidFill>
          <a:ln w="13970">
            <a:solidFill>
              <a:srgbClr val="E5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3200" y="3327400"/>
            <a:ext cx="2667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E58B23"/>
                </a:solidFill>
                <a:latin typeface="Microsoft YaHei"/>
              </a:rPr>
              <a:t>Factory cost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1000" y="3327400"/>
            <a:ext cx="330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materials + energy + labor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70000" y="4051300"/>
            <a:ext cx="5778500" cy="533400"/>
          </a:xfrm>
          <a:prstGeom prst="rect">
            <a:avLst/>
          </a:prstGeom>
          <a:solidFill>
            <a:srgbClr val="F6F8FA"/>
          </a:solidFill>
          <a:ln w="13970">
            <a:solidFill>
              <a:srgbClr val="677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73200" y="4191000"/>
            <a:ext cx="2667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677482"/>
                </a:solidFill>
                <a:latin typeface="Microsoft YaHei"/>
              </a:rPr>
              <a:t>Fixed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0" y="4191000"/>
            <a:ext cx="330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depreciation + overhead + finance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143500"/>
            <a:ext cx="1905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5207000"/>
            <a:ext cx="1828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Lever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6600" y="5143500"/>
            <a:ext cx="3556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4700" y="5207000"/>
            <a:ext cx="3479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Target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32600" y="5143500"/>
            <a:ext cx="4445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0700" y="5207000"/>
            <a:ext cx="4368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Boundary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5486400"/>
            <a:ext cx="1905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09700" y="5549900"/>
            <a:ext cx="1828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Energy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6600" y="5486400"/>
            <a:ext cx="3556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4700" y="5549900"/>
            <a:ext cx="3479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B8242F"/>
                </a:solidFill>
                <a:latin typeface="Microsoft YaHei"/>
              </a:rPr>
              <a:t>stable low-cost 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32600" y="5486400"/>
            <a:ext cx="4445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0700" y="5549900"/>
            <a:ext cx="4368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B8242F"/>
                </a:solidFill>
                <a:latin typeface="Microsoft YaHei"/>
              </a:rPr>
              <a:t>no supply risk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867400"/>
            <a:ext cx="1905000" cy="3810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09700" y="5930900"/>
            <a:ext cx="1828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Labor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6600" y="5867400"/>
            <a:ext cx="3556000" cy="3810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4700" y="5930900"/>
            <a:ext cx="3479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1C845F"/>
                </a:solidFill>
                <a:latin typeface="Microsoft YaHei"/>
              </a:rPr>
              <a:t>outsourcing + productivity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32600" y="5867400"/>
            <a:ext cx="4445000" cy="3810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70700" y="5930900"/>
            <a:ext cx="4368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safety/quality intact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6248400"/>
            <a:ext cx="1905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09700" y="6311900"/>
            <a:ext cx="1828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Logistics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6600" y="6248400"/>
            <a:ext cx="3556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4700" y="6311900"/>
            <a:ext cx="3479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market radius discipline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32600" y="6248400"/>
            <a:ext cx="4445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70700" y="6311900"/>
            <a:ext cx="4368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no negative orders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Orders must pass contribution and cash tests before volume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41500" y="1333500"/>
            <a:ext cx="6604000" cy="34290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143500" y="1333500"/>
            <a:ext cx="0" cy="3429000"/>
          </a:xfrm>
          <a:prstGeom prst="line">
            <a:avLst/>
          </a:prstGeom>
          <a:ln w="1270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41500" y="3048000"/>
            <a:ext cx="6604000" cy="0"/>
          </a:xfrm>
          <a:prstGeom prst="line">
            <a:avLst/>
          </a:prstGeom>
          <a:ln w="1270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84500" y="2032000"/>
            <a:ext cx="1270000" cy="2794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E58B23"/>
                </a:solidFill>
                <a:latin typeface="Microsoft YaHei"/>
              </a:rPr>
              <a:t>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2032000"/>
            <a:ext cx="1270000" cy="2794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1C845F"/>
                </a:solidFill>
                <a:latin typeface="Microsoft YaHei"/>
              </a:rPr>
              <a:t>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4500" y="3810000"/>
            <a:ext cx="1270000" cy="2794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B8242F"/>
                </a:solidFill>
                <a:latin typeface="Microsoft YaHei"/>
              </a:rPr>
              <a:t>Reject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3810000"/>
            <a:ext cx="1270000" cy="2794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E58B23"/>
                </a:solidFill>
                <a:latin typeface="Microsoft YaHei"/>
              </a:rPr>
              <a:t>Caution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00" y="2984500"/>
            <a:ext cx="1397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unit contribution 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500" y="1320800"/>
            <a:ext cx="88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cash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7500" y="5207000"/>
            <a:ext cx="3429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5600" y="5270500"/>
            <a:ext cx="3352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Red 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6500" y="5207000"/>
            <a:ext cx="6350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4600" y="5270500"/>
            <a:ext cx="6273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Meaning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7500" y="5549900"/>
            <a:ext cx="3429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5600" y="5613400"/>
            <a:ext cx="3352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C845F"/>
                </a:solidFill>
                <a:latin typeface="Microsoft YaHei"/>
              </a:rPr>
              <a:t>negative contribution + weak collection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16500" y="5549900"/>
            <a:ext cx="6350000" cy="3810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4600" y="5613400"/>
            <a:ext cx="6273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reject even if it adds volume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87500" y="5930900"/>
            <a:ext cx="3429000" cy="3810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5600" y="5994400"/>
            <a:ext cx="3352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C845F"/>
                </a:solidFill>
                <a:latin typeface="Microsoft YaHei"/>
              </a:rPr>
              <a:t>positive contribution + weak collection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6500" y="5930900"/>
            <a:ext cx="6350000" cy="3810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54600" y="5994400"/>
            <a:ext cx="6273800" cy="2794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limit and approve by exception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2600" y="177800"/>
            <a:ext cx="2159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1">
                <a:solidFill>
                  <a:srgbClr val="005CB9"/>
                </a:solidFill>
                <a:latin typeface="Microsoft YaHei"/>
              </a:rPr>
              <a:t>SANITIZED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57200"/>
            <a:ext cx="9906000" cy="3810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900" b="1">
                <a:solidFill>
                  <a:srgbClr val="05254D"/>
                </a:solidFill>
                <a:latin typeface="Microsoft YaHei"/>
              </a:rPr>
              <a:t>Recovery should move from stop-loss to stabilization and selective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500" y="495300"/>
            <a:ext cx="7366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r"/>
            <a:r>
              <a:rPr sz="1200" b="0">
                <a:solidFill>
                  <a:srgbClr val="677482"/>
                </a:solidFill>
                <a:latin typeface="Microsoft YaHei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600" y="939800"/>
            <a:ext cx="11226800" cy="0"/>
          </a:xfrm>
          <a:prstGeom prst="line">
            <a:avLst/>
          </a:prstGeom>
          <a:ln w="16510">
            <a:solidFill>
              <a:srgbClr val="0525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600" y="914400"/>
            <a:ext cx="1422400" cy="381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9000" y="1587500"/>
            <a:ext cx="2794000" cy="2095500"/>
          </a:xfrm>
          <a:prstGeom prst="rect">
            <a:avLst/>
          </a:prstGeom>
          <a:solidFill>
            <a:srgbClr val="F6F8FA"/>
          </a:solidFill>
          <a:ln w="15240">
            <a:solidFill>
              <a:srgbClr val="B8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18415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0-3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2133600"/>
            <a:ext cx="2286000" cy="2794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8242F"/>
                </a:solidFill>
                <a:latin typeface="Microsoft YaHei"/>
              </a:rPr>
              <a:t>Stop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6924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0000" y="26035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stop phase-two spend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0099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0000" y="29210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cash weekly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3274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0000" y="32385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negative orders banned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3000" y="2641600"/>
            <a:ext cx="571500" cy="0"/>
          </a:xfrm>
          <a:prstGeom prst="line">
            <a:avLst/>
          </a:prstGeom>
          <a:ln w="25400">
            <a:solidFill>
              <a:srgbClr val="00A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08500" y="1587500"/>
            <a:ext cx="2794000" cy="2095500"/>
          </a:xfrm>
          <a:prstGeom prst="rect">
            <a:avLst/>
          </a:prstGeom>
          <a:solidFill>
            <a:srgbClr val="F6F8FA"/>
          </a:solidFill>
          <a:ln w="15240">
            <a:solidFill>
              <a:srgbClr val="E5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7100" y="18415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4-9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7100" y="2133600"/>
            <a:ext cx="2286000" cy="2794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E58B23"/>
                </a:solidFill>
                <a:latin typeface="Microsoft YaHei"/>
              </a:rPr>
              <a:t>Stabilize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2500" y="26924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9500" y="26035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cost source stable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0" y="30099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9500" y="29210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contribution orders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2500" y="33274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9500" y="32385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inventory discipline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02500" y="2641600"/>
            <a:ext cx="571500" cy="0"/>
          </a:xfrm>
          <a:prstGeom prst="line">
            <a:avLst/>
          </a:prstGeom>
          <a:ln w="25400">
            <a:solidFill>
              <a:srgbClr val="00AA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128000" y="1587500"/>
            <a:ext cx="2794000" cy="2095500"/>
          </a:xfrm>
          <a:prstGeom prst="rect">
            <a:avLst/>
          </a:prstGeom>
          <a:solidFill>
            <a:srgbClr val="F6F8FA"/>
          </a:solidFill>
          <a:ln w="15240">
            <a:solidFill>
              <a:srgbClr val="1C8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6600" y="1841500"/>
            <a:ext cx="2286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10-12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6600" y="2133600"/>
            <a:ext cx="2286000" cy="2794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1C845F"/>
                </a:solidFill>
                <a:latin typeface="Microsoft YaHei"/>
              </a:rPr>
              <a:t>Selective scale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2000" y="26924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9000" y="26035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priority customers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2000" y="30099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9000" y="29210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controlled credit pilot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2000" y="3327400"/>
            <a:ext cx="50800" cy="50800"/>
          </a:xfrm>
          <a:prstGeom prst="rect">
            <a:avLst/>
          </a:prstGeom>
          <a:solidFill>
            <a:srgbClr val="00AAD2"/>
          </a:solidFill>
          <a:ln w="8890">
            <a:solidFill>
              <a:srgbClr val="0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9000" y="3238500"/>
            <a:ext cx="2032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62D37"/>
                </a:solidFill>
                <a:latin typeface="Microsoft YaHei"/>
              </a:rPr>
              <a:t>asset monetization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4508500"/>
            <a:ext cx="4191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1100" y="4572000"/>
            <a:ext cx="4114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Approval item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34000" y="4508500"/>
            <a:ext cx="5461000" cy="342900"/>
          </a:xfrm>
          <a:prstGeom prst="rect">
            <a:avLst/>
          </a:prstGeom>
          <a:solidFill>
            <a:srgbClr val="05254D"/>
          </a:solidFill>
          <a:ln w="8890">
            <a:solidFill>
              <a:srgbClr val="052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2100" y="4572000"/>
            <a:ext cx="5384800" cy="2032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Recommended decision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4851400"/>
            <a:ext cx="4191000" cy="431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1100" y="4914900"/>
            <a:ext cx="4114800" cy="330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B8242F"/>
                </a:solidFill>
                <a:latin typeface="Microsoft YaHei"/>
              </a:rPr>
              <a:t>Stop phase-two expansion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34000" y="4851400"/>
            <a:ext cx="5461000" cy="431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72100" y="4914900"/>
            <a:ext cx="5384800" cy="330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approve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5283200"/>
            <a:ext cx="4191000" cy="4318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1100" y="5346700"/>
            <a:ext cx="4114800" cy="330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Start asset monetization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34000" y="5283200"/>
            <a:ext cx="5461000" cy="431800"/>
          </a:xfrm>
          <a:prstGeom prst="rect">
            <a:avLst/>
          </a:prstGeom>
          <a:solidFill>
            <a:srgbClr val="FFFFFF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72100" y="5346700"/>
            <a:ext cx="5384800" cy="330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launch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5715000"/>
            <a:ext cx="4191000" cy="431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1100" y="5778500"/>
            <a:ext cx="4114800" cy="330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262D37"/>
                </a:solidFill>
                <a:latin typeface="Microsoft YaHei"/>
              </a:rPr>
              <a:t>Controlled credit pilot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0" y="5715000"/>
            <a:ext cx="5461000" cy="431800"/>
          </a:xfrm>
          <a:prstGeom prst="rect">
            <a:avLst/>
          </a:prstGeom>
          <a:solidFill>
            <a:srgbClr val="F6F8FA"/>
          </a:solidFill>
          <a:ln w="8890">
            <a:solidFill>
              <a:srgbClr val="CA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2100" y="5778500"/>
            <a:ext cx="5384800" cy="330200"/>
          </a:xfrm>
          <a:prstGeom prst="rect">
            <a:avLst/>
          </a:prstGeom>
          <a:noFill/>
        </p:spPr>
        <p:txBody>
          <a:bodyPr wrap="square" lIns="31750" rIns="31750" tIns="12700" bIns="12700" anchor="ctr">
            <a:spAutoFit/>
          </a:bodyPr>
          <a:lstStyle/>
          <a:p>
            <a:pPr algn="ctr"/>
            <a:r>
              <a:rPr sz="1200" b="0">
                <a:solidFill>
                  <a:srgbClr val="262D37"/>
                </a:solidFill>
                <a:latin typeface="Microsoft YaHei"/>
              </a:rPr>
              <a:t>approve with limit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82600" y="6400800"/>
            <a:ext cx="11226800" cy="0"/>
          </a:xfrm>
          <a:prstGeom prst="line">
            <a:avLst/>
          </a:prstGeom>
          <a:ln w="10160">
            <a:solidFill>
              <a:srgbClr val="CAD3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8000" y="6502400"/>
            <a:ext cx="10795000" cy="228600"/>
          </a:xfrm>
          <a:prstGeom prst="rect">
            <a:avLst/>
          </a:prstGeom>
          <a:noFill/>
        </p:spPr>
        <p:txBody>
          <a:bodyPr wrap="square" lIns="31750" rIns="3175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677482"/>
                </a:solidFill>
                <a:latin typeface="Microsoft YaHei"/>
              </a:rPr>
              <a:t>Source: synthetic demo data; fictional company; no private or client data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